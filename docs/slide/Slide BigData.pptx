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3" r:id="rId3"/>
    <p:sldId id="264" r:id="rId4"/>
    <p:sldId id="266" r:id="rId5"/>
    <p:sldId id="267" r:id="rId6"/>
    <p:sldId id="273" r:id="rId7"/>
    <p:sldId id="268" r:id="rId8"/>
    <p:sldId id="269" r:id="rId9"/>
    <p:sldId id="270" r:id="rId10"/>
    <p:sldId id="271" r:id="rId11"/>
    <p:sldId id="272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EB365-7B7E-AC45-A222-216BA413873C}" v="1" dt="2026-06-04T07:13:36.565"/>
    <p1510:client id="{C9F63AC4-6F57-46A2-B11A-9C8119AAE178}" v="8" dt="2026-06-04T02:22:40.468"/>
    <p1510:client id="{CFC8D1F9-7C84-9191-49C2-1D374A862529}" v="7" dt="2026-06-04T04:58:26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6/4/26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6/4/26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6/4/26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6/4/26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Báo </a:t>
            </a:r>
            <a:r>
              <a:rPr lang="en-US" dirty="0" err="1"/>
              <a:t>cáo</a:t>
            </a:r>
            <a:r>
              <a:rPr lang="en-US" dirty="0"/>
              <a:t> BTL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 err="1"/>
              <a:t>Hệ</a:t>
            </a:r>
            <a:r>
              <a:rPr lang="en-US" sz="2800" b="0" dirty="0"/>
              <a:t> </a:t>
            </a:r>
            <a:r>
              <a:rPr lang="en-US" sz="2800" b="0" dirty="0" err="1"/>
              <a:t>thống</a:t>
            </a:r>
            <a:r>
              <a:rPr lang="en-US" sz="2800" b="0" dirty="0"/>
              <a:t> </a:t>
            </a:r>
            <a:r>
              <a:rPr lang="en-US" sz="2800" b="0" dirty="0" err="1"/>
              <a:t>phân</a:t>
            </a:r>
            <a:r>
              <a:rPr lang="en-US" sz="2800" b="0" dirty="0"/>
              <a:t> </a:t>
            </a:r>
            <a:r>
              <a:rPr lang="en-US" sz="2800" b="0" dirty="0" err="1"/>
              <a:t>tích</a:t>
            </a:r>
            <a:r>
              <a:rPr lang="en-US" sz="2800" b="0" dirty="0"/>
              <a:t> xu </a:t>
            </a:r>
            <a:r>
              <a:rPr lang="en-US" sz="2800" b="0" dirty="0" err="1"/>
              <a:t>hướng</a:t>
            </a:r>
            <a:r>
              <a:rPr lang="en-US" sz="2800" b="0" dirty="0"/>
              <a:t> </a:t>
            </a:r>
            <a:r>
              <a:rPr lang="en-US" sz="2800" b="0" dirty="0" err="1"/>
              <a:t>và</a:t>
            </a:r>
            <a:r>
              <a:rPr lang="en-US" sz="2800" b="0" dirty="0"/>
              <a:t> </a:t>
            </a:r>
            <a:r>
              <a:rPr lang="en-US" sz="2800" b="0" dirty="0" err="1"/>
              <a:t>cảm</a:t>
            </a:r>
            <a:r>
              <a:rPr lang="en-US" sz="2800" b="0" dirty="0"/>
              <a:t> </a:t>
            </a:r>
            <a:r>
              <a:rPr lang="en-US" sz="2800" b="0" dirty="0" err="1"/>
              <a:t>xúc</a:t>
            </a:r>
            <a:r>
              <a:rPr lang="en-US" sz="2800" b="0" dirty="0"/>
              <a:t> </a:t>
            </a:r>
            <a:r>
              <a:rPr lang="en-US" sz="2800" b="0" dirty="0" err="1"/>
              <a:t>thị</a:t>
            </a:r>
            <a:r>
              <a:rPr lang="en-US" sz="2800" b="0" dirty="0"/>
              <a:t> </a:t>
            </a:r>
            <a:r>
              <a:rPr lang="en-US" sz="2800" b="0" dirty="0" err="1"/>
              <a:t>trường</a:t>
            </a:r>
            <a:r>
              <a:rPr lang="en-US" sz="2800" b="0" dirty="0"/>
              <a:t> crypto </a:t>
            </a:r>
            <a:r>
              <a:rPr lang="en-US" sz="2800" b="0" dirty="0" err="1"/>
              <a:t>sử</a:t>
            </a:r>
            <a:r>
              <a:rPr lang="en-US" sz="2800" b="0" dirty="0"/>
              <a:t> </a:t>
            </a:r>
            <a:r>
              <a:rPr lang="en-US" sz="2800" b="0" dirty="0" err="1"/>
              <a:t>dụng</a:t>
            </a:r>
            <a:r>
              <a:rPr lang="en-US" sz="2800" b="0" dirty="0"/>
              <a:t> </a:t>
            </a:r>
            <a:r>
              <a:rPr lang="en-US" sz="2800" b="0" dirty="0" err="1"/>
              <a:t>dữ</a:t>
            </a:r>
            <a:r>
              <a:rPr lang="en-US" sz="2800" b="0" dirty="0"/>
              <a:t> </a:t>
            </a:r>
            <a:r>
              <a:rPr lang="en-US" sz="2800" b="0" dirty="0" err="1"/>
              <a:t>liệu</a:t>
            </a:r>
            <a:r>
              <a:rPr lang="en-US" sz="2800" b="0" dirty="0"/>
              <a:t> </a:t>
            </a:r>
            <a:r>
              <a:rPr lang="en-US" sz="2800" b="0" dirty="0" err="1"/>
              <a:t>từ</a:t>
            </a:r>
            <a:r>
              <a:rPr lang="en-US" sz="2800" b="0" dirty="0"/>
              <a:t> TWITTER/X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BB36F4-5B41-CE97-CFB4-48740262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43698F-B5D7-B028-5863-EA0D92D1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1. Tổng quan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07E43-83C7-39DC-9EFA-FD219B85B47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b="1" dirty="0"/>
              <a:t>Đặt vấn đề</a:t>
            </a:r>
          </a:p>
          <a:p>
            <a:pPr lvl="1"/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Thị trường crypto biến động mạnh, chịu ảnh hưởng lớn từ tâm lý đám đông trên mạng xã hội.</a:t>
            </a:r>
          </a:p>
          <a:p>
            <a:pPr lvl="1"/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Tweet/KOL có thể tạo biến động giá lớn chỉ trong vài giờ.</a:t>
            </a:r>
          </a:p>
          <a:p>
            <a:pPr lvl="1"/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Cần phân tích xu hướng thảo luận gần thời gian thực để phát hiện sớm tín hiệu bất thường.</a:t>
            </a:r>
          </a:p>
          <a:p>
            <a:r>
              <a:rPr lang="en-US" b="1" i="0" dirty="0" err="1">
                <a:solidFill>
                  <a:srgbClr val="1A1C1F"/>
                </a:solidFill>
                <a:effectLst/>
                <a:latin typeface="-apple-system"/>
              </a:rPr>
              <a:t>Tính</a:t>
            </a:r>
            <a:r>
              <a:rPr lang="en-US" b="1" i="0" dirty="0">
                <a:solidFill>
                  <a:srgbClr val="1A1C1F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1A1C1F"/>
                </a:solidFill>
                <a:effectLst/>
                <a:latin typeface="-apple-system"/>
              </a:rPr>
              <a:t>Chất</a:t>
            </a:r>
            <a:r>
              <a:rPr lang="en-US" b="1" i="0" dirty="0">
                <a:solidFill>
                  <a:srgbClr val="1A1C1F"/>
                </a:solidFill>
                <a:effectLst/>
                <a:latin typeface="-apple-system"/>
              </a:rPr>
              <a:t> </a:t>
            </a:r>
          </a:p>
          <a:p>
            <a:pPr lvl="1"/>
            <a:r>
              <a:rPr lang="vi-VN" b="1" i="0" dirty="0">
                <a:solidFill>
                  <a:srgbClr val="1A1C1F"/>
                </a:solidFill>
                <a:effectLst/>
                <a:latin typeface="-apple-system"/>
              </a:rPr>
              <a:t>Volume:</a:t>
            </a:r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 lượng tweet crypto phát sinh liên tục, tích lũy thành dữ liệu lịch sử lớn.</a:t>
            </a:r>
          </a:p>
          <a:p>
            <a:pPr lvl="1"/>
            <a:r>
              <a:rPr lang="vi-VN" b="1" i="0" dirty="0">
                <a:solidFill>
                  <a:srgbClr val="1A1C1F"/>
                </a:solidFill>
                <a:effectLst/>
                <a:latin typeface="-apple-system"/>
              </a:rPr>
              <a:t>Velocity:</a:t>
            </a:r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 dữ liệu đến nhanh, cần xử lý tức thời để bắt kịp xu hướng.</a:t>
            </a:r>
          </a:p>
          <a:p>
            <a:pPr lvl="1"/>
            <a:r>
              <a:rPr lang="vi-VN" b="1" i="0" dirty="0">
                <a:solidFill>
                  <a:srgbClr val="1A1C1F"/>
                </a:solidFill>
                <a:effectLst/>
                <a:latin typeface="-apple-system"/>
              </a:rPr>
              <a:t>Variety:</a:t>
            </a:r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 dữ liệu văn bản phi cấu trúc, nhiều metadata, lẫn spam/bot và chất lượng không đồng đều.</a:t>
            </a:r>
          </a:p>
          <a:p>
            <a:pPr lvl="1"/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98873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0CE50-57EB-C10E-C58D-60DACBF26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E92FC5-BA4B-61C1-7D89-4ED7EADF4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7B3FC-14B2-92CC-B069-936BCBEA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1. Tổng quan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F3D5D-03F5-2486-7CE5-305D78F93FE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b="1" dirty="0"/>
              <a:t>Mục tiêu hệ thống</a:t>
            </a:r>
          </a:p>
          <a:p>
            <a:pPr lvl="1"/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Thu thập dữ liệu social crypto và đẩy vào Kafka.</a:t>
            </a:r>
          </a:p>
          <a:p>
            <a:pPr lvl="1"/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Xử lý dòng bằng Spark Structured Streaming để tính trend realtime và phát hiện spike.</a:t>
            </a:r>
          </a:p>
          <a:p>
            <a:pPr lvl="1"/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Xử lý lô bằng Spark để phân tích sentiment, lọc spam/bot và tổng hợp dữ liệu lịch sử.</a:t>
            </a:r>
          </a:p>
          <a:p>
            <a:pPr lvl="1"/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Lưu trữ bằng HDFS, phục vụ bằng MongoDB và trực quan hóa qua Dashboard.</a:t>
            </a:r>
          </a:p>
          <a:p>
            <a:pPr lvl="1"/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Triển khai end-to-end trên Docker/Kubernetes theo kiến trúc Lambda.</a:t>
            </a:r>
            <a:endParaRPr lang="en-VN" dirty="0"/>
          </a:p>
          <a:p>
            <a:r>
              <a:rPr lang="en-VN" b="1" dirty="0"/>
              <a:t>Phạm vi</a:t>
            </a:r>
          </a:p>
          <a:p>
            <a:pPr lvl="1"/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Dữ liệu X/Twitter qua RapidAPI.</a:t>
            </a:r>
          </a:p>
          <a:p>
            <a:pPr lvl="1"/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Coin tiêu biểu: BTC, ETH, SOL, XRP, ADA, BNB, DOGE, AVAX.</a:t>
            </a:r>
          </a:p>
          <a:p>
            <a:pPr lvl="1"/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Sentiment lexicon-based, tập trung phát hiện xu hướng/cảm xúc, chưa dự báo giá.</a:t>
            </a:r>
          </a:p>
          <a:p>
            <a:pPr lvl="1"/>
            <a:r>
              <a:rPr lang="vi-VN" b="0" i="0" dirty="0">
                <a:solidFill>
                  <a:srgbClr val="1A1C1F"/>
                </a:solidFill>
                <a:effectLst/>
                <a:latin typeface="-apple-system"/>
              </a:rPr>
              <a:t>Kubernetes chạy thử nghiệm trên hạ tầng cục bộ Kind.</a:t>
            </a:r>
          </a:p>
          <a:p>
            <a:pPr lvl="1"/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246609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D2730B-BE6A-1FED-45E0-E2E831DA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8E9F6D-9288-B7BB-AB4F-CC12449F0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2. Cơ sở lý thuyết và công nghệ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39E48-9006-FFAF-D635-0F0D9A7A81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934720"/>
            <a:ext cx="11514528" cy="5033248"/>
          </a:xfrm>
        </p:spPr>
        <p:txBody>
          <a:bodyPr/>
          <a:lstStyle/>
          <a:p>
            <a:pPr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vi-VN" dirty="0"/>
              <a:t>Lambda Architecture</a:t>
            </a:r>
          </a:p>
          <a:p>
            <a:pPr lvl="1">
              <a:lnSpc>
                <a:spcPts val="1650"/>
              </a:lnSpc>
            </a:pPr>
            <a:r>
              <a:rPr lang="vi-VN" dirty="0"/>
              <a:t>Kết hợp Batch Layer, Speed Layer và Serving Layer.</a:t>
            </a:r>
          </a:p>
          <a:p>
            <a:pPr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vi-VN" dirty="0"/>
              <a:t>Kafka</a:t>
            </a:r>
            <a:endParaRPr lang="en-US" dirty="0"/>
          </a:p>
          <a:p>
            <a:pPr lvl="1">
              <a:lnSpc>
                <a:spcPts val="1650"/>
              </a:lnSpc>
            </a:pPr>
            <a:r>
              <a:rPr lang="vi-VN" dirty="0"/>
              <a:t>Là cầu nối giữa tầng thu thập dữ liệu và tầng xử lý.</a:t>
            </a:r>
            <a:endParaRPr lang="en-US" dirty="0"/>
          </a:p>
          <a:p>
            <a:pPr lvl="1">
              <a:lnSpc>
                <a:spcPts val="1650"/>
              </a:lnSpc>
            </a:pPr>
            <a:r>
              <a:rPr lang="vi-VN" dirty="0"/>
              <a:t>Hỗ trợ topic, partition, offset, consumer group và SSL/TLS.</a:t>
            </a:r>
          </a:p>
          <a:p>
            <a:pPr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vi-VN" dirty="0"/>
              <a:t>Apache Spark</a:t>
            </a:r>
          </a:p>
          <a:p>
            <a:pPr marL="742950" lvl="1" indent="-2857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vi-VN" dirty="0"/>
              <a:t>Dùng PySpark cho cả Batch Layer và Speed Layer.</a:t>
            </a:r>
            <a:endParaRPr lang="en-US" dirty="0"/>
          </a:p>
          <a:p>
            <a:pPr marL="742950" lvl="1" indent="-2857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vi-VN" dirty="0"/>
              <a:t>Spark SQL/DataFrame dùng cho lọc, groupBy, aggregation.</a:t>
            </a:r>
            <a:endParaRPr lang="en-US" dirty="0"/>
          </a:p>
          <a:p>
            <a:pPr marL="742950" lvl="1" indent="-2857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vi-VN" dirty="0"/>
              <a:t>Structured Streaming dùng cho stream realtime, windowing, watermark,</a:t>
            </a:r>
            <a:r>
              <a:rPr lang="en-US" dirty="0"/>
              <a:t> </a:t>
            </a:r>
            <a:r>
              <a:rPr lang="vi-VN" dirty="0"/>
              <a:t>checkpoint.</a:t>
            </a:r>
          </a:p>
          <a:p>
            <a:pPr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vi-VN" dirty="0"/>
              <a:t>HDFS</a:t>
            </a:r>
          </a:p>
          <a:p>
            <a:pPr marL="742950" lvl="1" indent="-2857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vi-VN" dirty="0"/>
              <a:t>Lưu tweet dạng JSON Lines.</a:t>
            </a:r>
            <a:endParaRPr lang="en-US" dirty="0"/>
          </a:p>
          <a:p>
            <a:pPr marL="742950" lvl="1" indent="-28575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vi-VN" dirty="0"/>
              <a:t>Phân vùng theo coin/ngày/giờ để Batch Layer đọc dữ liệu hiệu quả.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6491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84BAB5-D133-AADC-6DEC-F31CA646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1F79B8-C2BB-7F9E-63CC-CB6A1CD3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1DC13-7DD6-5D78-8DFC-E6B7CA1DF7F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 err="1"/>
              <a:t>Yêu</a:t>
            </a:r>
            <a:r>
              <a:rPr lang="en-US" b="1" dirty="0"/>
              <a:t> </a:t>
            </a:r>
            <a:r>
              <a:rPr lang="en-US" b="1" dirty="0" err="1"/>
              <a:t>cầu</a:t>
            </a:r>
            <a:r>
              <a:rPr lang="en-US" b="1" dirty="0"/>
              <a:t> &amp; </a:t>
            </a:r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endParaRPr lang="en-US" dirty="0"/>
          </a:p>
          <a:p>
            <a:pPr lvl="1"/>
            <a:r>
              <a:rPr lang="en-US" dirty="0"/>
              <a:t>Thu </a:t>
            </a:r>
            <a:r>
              <a:rPr lang="en-US" dirty="0" err="1"/>
              <a:t>thập</a:t>
            </a:r>
            <a:r>
              <a:rPr lang="en-US" dirty="0"/>
              <a:t> tweet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RapidAPI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Đẩy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Kafka. </a:t>
            </a:r>
          </a:p>
          <a:p>
            <a:pPr lvl="1"/>
            <a:r>
              <a:rPr lang="en-US" dirty="0"/>
              <a:t>Lưu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thô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HDFS. </a:t>
            </a:r>
          </a:p>
          <a:p>
            <a:pPr lvl="1"/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Spark Streaming. </a:t>
            </a:r>
          </a:p>
          <a:p>
            <a:pPr lvl="1"/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lô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Spark Batch. </a:t>
            </a:r>
          </a:p>
          <a:p>
            <a:pPr lvl="1"/>
            <a:r>
              <a:rPr lang="en-US" dirty="0"/>
              <a:t>Lưu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MongoDB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Dashboard. </a:t>
            </a:r>
          </a:p>
          <a:p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Ingestion → Kafka → HDFS → Spark Streaming / Spark Batch → MongoDB → Dashboard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43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B2D952-A489-C7FB-7234-E4C46AA2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B19968-C3C0-A802-9E08-CACFF582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3. Phân </a:t>
            </a:r>
            <a:r>
              <a:rPr lang="en-US" dirty="0" err="1"/>
              <a:t>tích</a:t>
            </a:r>
            <a:r>
              <a:rPr lang="en-US" dirty="0"/>
              <a:t> </a:t>
            </a:r>
            <a:r>
              <a:rPr lang="en-US" dirty="0" err="1"/>
              <a:t>và</a:t>
            </a:r>
            <a:r>
              <a:rPr lang="en-US" dirty="0"/>
              <a:t> </a:t>
            </a:r>
            <a:r>
              <a:rPr lang="en-US" dirty="0" err="1"/>
              <a:t>thiết</a:t>
            </a:r>
            <a:r>
              <a:rPr lang="en-US" dirty="0"/>
              <a:t> </a:t>
            </a:r>
            <a:r>
              <a:rPr lang="en-US" dirty="0" err="1"/>
              <a:t>kế</a:t>
            </a:r>
            <a:r>
              <a:rPr lang="en-US" dirty="0"/>
              <a:t> </a:t>
            </a:r>
            <a:r>
              <a:rPr lang="en-US" dirty="0" err="1"/>
              <a:t>hệ</a:t>
            </a:r>
            <a:r>
              <a:rPr lang="en-US" dirty="0"/>
              <a:t> </a:t>
            </a:r>
            <a:r>
              <a:rPr lang="en-US" dirty="0" err="1"/>
              <a:t>thống</a:t>
            </a:r>
          </a:p>
        </p:txBody>
      </p:sp>
      <p:pic>
        <p:nvPicPr>
          <p:cNvPr id="5" name="Content Placeholder 4" descr="Không có mô tả.">
            <a:extLst>
              <a:ext uri="{FF2B5EF4-FFF2-40B4-BE49-F238E27FC236}">
                <a16:creationId xmlns:a16="http://schemas.microsoft.com/office/drawing/2014/main" id="{6582F3C3-65B1-CB2E-9D68-C447F7DC60D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797927" y="1058844"/>
            <a:ext cx="8596145" cy="490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11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557157-0BCB-970C-1557-D04836AD2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1ECDF4-92E6-FCAC-DFAD-7BD7B4B63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399990-D7C2-A97A-313B-126A805D738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87450" y="1058863"/>
            <a:ext cx="9817100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92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9EDB-95EC-487D-1342-FBDE023A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C949EE-FC2E-FD90-6F10-1955B83E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1E262E-F304-0AEE-947F-ACCB0A383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luồng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5D3BB5-401A-6029-8C25-B4ED7A5FE2A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23D281-7301-8927-BFBF-115F03477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864" y="1056033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19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484E8C-C166-BA67-2854-26609BD9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C32265-2ACC-F823-4F04-A70ED881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lô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867328-EFF1-7654-FB5A-A64F03E6CB1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50" y="1058863"/>
            <a:ext cx="9817100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1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CD2A16-0D89-7A61-772E-90DE8CDC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1B87A3-892B-1614-37CB-1D91B12D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ADF67D-466C-9E29-49BA-DE3DDEF61A3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588" y="1058863"/>
            <a:ext cx="7362825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74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F3399C-A7C7-234A-35C5-A374C9D9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0512F7-7371-39BC-DCE1-E4ECBAB8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KUBERNETES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E1A313-5576-61BE-122A-EE60DF50A47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172129" y="1058863"/>
            <a:ext cx="7847742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23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552</Words>
  <Application>Microsoft Macintosh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Calibri</vt:lpstr>
      <vt:lpstr>Lato</vt:lpstr>
      <vt:lpstr>Office Theme</vt:lpstr>
      <vt:lpstr>PowerPoint Presentation</vt:lpstr>
      <vt:lpstr>1. Tổng quan</vt:lpstr>
      <vt:lpstr>1. Tổng quan</vt:lpstr>
      <vt:lpstr>2. Cơ sở lý thuyết và công nghệ</vt:lpstr>
      <vt:lpstr>3. Phân tích và thiết kế hệ thống </vt:lpstr>
      <vt:lpstr>3. Phân tích và thiết kế hệ thống</vt:lpstr>
      <vt:lpstr>4. Tầng thu nhập dữ liệu</vt:lpstr>
      <vt:lpstr>5. Tầng xử lý theo luồng</vt:lpstr>
      <vt:lpstr>6. Tầng xử lý lô</vt:lpstr>
      <vt:lpstr>7.  Tầng lưu trữ và phục vụ </vt:lpstr>
      <vt:lpstr>8. Triển khai trên hệ thống KUBERNETES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Vu Quang Thang 20235427</cp:lastModifiedBy>
  <cp:revision>12</cp:revision>
  <dcterms:created xsi:type="dcterms:W3CDTF">2021-05-28T04:32:29Z</dcterms:created>
  <dcterms:modified xsi:type="dcterms:W3CDTF">2026-06-04T07:13:36Z</dcterms:modified>
</cp:coreProperties>
</file>